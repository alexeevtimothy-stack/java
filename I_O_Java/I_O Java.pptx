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Shape 1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Заголовок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952500" y="9245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4" name="Line"/>
          <p:cNvSpPr/>
          <p:nvPr/>
        </p:nvSpPr>
        <p:spPr>
          <a:xfrm>
            <a:off x="952500" y="5765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5" name="Line"/>
          <p:cNvSpPr/>
          <p:nvPr/>
        </p:nvSpPr>
        <p:spPr>
          <a:xfrm flipV="1">
            <a:off x="14989317" y="6339647"/>
            <a:ext cx="1" cy="231012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6" name="Заголовок"/>
          <p:cNvSpPr txBox="1"/>
          <p:nvPr>
            <p:ph type="body" sz="quarter" idx="21"/>
          </p:nvPr>
        </p:nvSpPr>
        <p:spPr>
          <a:xfrm>
            <a:off x="952500" y="49657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i="1" sz="3200"/>
            </a:lvl1pPr>
          </a:lstStyle>
          <a:p>
            <a:pPr/>
            <a:r>
              <a:t>Заголовок</a:t>
            </a:r>
          </a:p>
        </p:txBody>
      </p:sp>
      <p:sp>
        <p:nvSpPr>
          <p:cNvPr id="17" name="Title Text"/>
          <p:cNvSpPr txBox="1"/>
          <p:nvPr>
            <p:ph type="title"/>
          </p:nvPr>
        </p:nvSpPr>
        <p:spPr>
          <a:xfrm>
            <a:off x="952500" y="58293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sz="quarter" idx="1"/>
          </p:nvPr>
        </p:nvSpPr>
        <p:spPr>
          <a:xfrm>
            <a:off x="15532100" y="58293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7" name="Line"/>
          <p:cNvSpPr/>
          <p:nvPr/>
        </p:nvSpPr>
        <p:spPr>
          <a:xfrm>
            <a:off x="952500" y="12801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8" name="Line"/>
          <p:cNvSpPr/>
          <p:nvPr/>
        </p:nvSpPr>
        <p:spPr>
          <a:xfrm>
            <a:off x="952500" y="9321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9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0" name="Заголовок"/>
          <p:cNvSpPr txBox="1"/>
          <p:nvPr>
            <p:ph type="body" sz="quarter" idx="21"/>
          </p:nvPr>
        </p:nvSpPr>
        <p:spPr>
          <a:xfrm>
            <a:off x="952500" y="86106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i="1" sz="3200"/>
            </a:lvl1pPr>
          </a:lstStyle>
          <a:p>
            <a:pPr/>
            <a:r>
              <a:t>Заголовок</a:t>
            </a:r>
          </a:p>
        </p:txBody>
      </p:sp>
      <p:sp>
        <p:nvSpPr>
          <p:cNvPr id="31" name="Чёрно-белое фото Зеландского моста в Нидерландах"/>
          <p:cNvSpPr/>
          <p:nvPr>
            <p:ph type="pic" idx="22"/>
          </p:nvPr>
        </p:nvSpPr>
        <p:spPr>
          <a:xfrm>
            <a:off x="952500" y="-1460500"/>
            <a:ext cx="22479000" cy="138938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952500" y="93980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quarter" idx="1"/>
          </p:nvPr>
        </p:nvSpPr>
        <p:spPr>
          <a:xfrm>
            <a:off x="15532100" y="93980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/>
          <p:nvPr>
            <p:ph type="title"/>
          </p:nvPr>
        </p:nvSpPr>
        <p:spPr>
          <a:xfrm>
            <a:off x="952500" y="5194300"/>
            <a:ext cx="22479000" cy="3340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"/>
          <p:cNvSpPr/>
          <p:nvPr/>
        </p:nvSpPr>
        <p:spPr>
          <a:xfrm>
            <a:off x="952500" y="6858000"/>
            <a:ext cx="10643200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0" name="Line"/>
          <p:cNvSpPr/>
          <p:nvPr/>
        </p:nvSpPr>
        <p:spPr>
          <a:xfrm>
            <a:off x="952500" y="3898900"/>
            <a:ext cx="1064309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51" name="Заголовок"/>
          <p:cNvSpPr txBox="1"/>
          <p:nvPr>
            <p:ph type="body" sz="quarter" idx="21"/>
          </p:nvPr>
        </p:nvSpPr>
        <p:spPr>
          <a:xfrm>
            <a:off x="952500" y="3124200"/>
            <a:ext cx="106426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i="1" sz="3200"/>
            </a:lvl1pPr>
          </a:lstStyle>
          <a:p>
            <a:pPr/>
            <a:r>
              <a:t>Заголовок</a:t>
            </a:r>
          </a:p>
        </p:txBody>
      </p:sp>
      <p:sp>
        <p:nvSpPr>
          <p:cNvPr id="52" name="Чёрно-белое фото с видом снизу на мост над рекой на фоне неба "/>
          <p:cNvSpPr/>
          <p:nvPr>
            <p:ph type="pic" idx="22"/>
          </p:nvPr>
        </p:nvSpPr>
        <p:spPr>
          <a:xfrm>
            <a:off x="12534900" y="-1651000"/>
            <a:ext cx="10799069" cy="15824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53" name="Title Text"/>
          <p:cNvSpPr txBox="1"/>
          <p:nvPr>
            <p:ph type="title"/>
          </p:nvPr>
        </p:nvSpPr>
        <p:spPr>
          <a:xfrm>
            <a:off x="952500" y="3975100"/>
            <a:ext cx="10642600" cy="2806700"/>
          </a:xfrm>
          <a:prstGeom prst="rect">
            <a:avLst/>
          </a:prstGeom>
        </p:spPr>
        <p:txBody>
          <a:bodyPr/>
          <a:lstStyle>
            <a:lvl1pPr algn="l">
              <a:defRPr sz="78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952500" y="7086600"/>
            <a:ext cx="10642600" cy="56388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2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3" name="Чёрно-белое фото с видом снизу на мост над рекой на фоне неба "/>
          <p:cNvSpPr/>
          <p:nvPr>
            <p:ph type="pic" idx="21"/>
          </p:nvPr>
        </p:nvSpPr>
        <p:spPr>
          <a:xfrm>
            <a:off x="12636500" y="-2413000"/>
            <a:ext cx="11024412" cy="161544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4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5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7" name="Body Level One…"/>
          <p:cNvSpPr txBox="1"/>
          <p:nvPr>
            <p:ph type="body" sz="half" idx="1"/>
          </p:nvPr>
        </p:nvSpPr>
        <p:spPr>
          <a:xfrm>
            <a:off x="952500" y="3797300"/>
            <a:ext cx="10909300" cy="8928100"/>
          </a:xfrm>
          <a:prstGeom prst="rect">
            <a:avLst/>
          </a:prstGeom>
        </p:spPr>
        <p:txBody>
          <a:bodyPr/>
          <a:lstStyle>
            <a:lvl1pPr marL="508000" indent="-508000">
              <a:spcBef>
                <a:spcPts val="2500"/>
              </a:spcBef>
              <a:buSzPct val="65000"/>
              <a:defRPr sz="4200"/>
            </a:lvl1pPr>
            <a:lvl2pPr marL="1016000" indent="-508000">
              <a:spcBef>
                <a:spcPts val="2500"/>
              </a:spcBef>
              <a:buSzPct val="65000"/>
              <a:defRPr sz="4200"/>
            </a:lvl2pPr>
            <a:lvl3pPr marL="1524000" indent="-508000">
              <a:spcBef>
                <a:spcPts val="2500"/>
              </a:spcBef>
              <a:buSzPct val="65000"/>
              <a:defRPr sz="4200"/>
            </a:lvl3pPr>
            <a:lvl4pPr marL="2032000" indent="-508000">
              <a:spcBef>
                <a:spcPts val="2500"/>
              </a:spcBef>
              <a:buSzPct val="65000"/>
              <a:defRPr sz="4200"/>
            </a:lvl4pPr>
            <a:lvl5pPr marL="2540000" indent="-508000">
              <a:spcBef>
                <a:spcPts val="2500"/>
              </a:spcBef>
              <a:buSzPct val="65000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idx="1"/>
          </p:nvPr>
        </p:nvSpPr>
        <p:spPr>
          <a:xfrm>
            <a:off x="952500" y="1778000"/>
            <a:ext cx="22479000" cy="101473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Чёрно-белое фото с видом снизу вверх на подвесные тросы моста на фоне облаков"/>
          <p:cNvSpPr/>
          <p:nvPr>
            <p:ph type="pic" sz="half" idx="21"/>
          </p:nvPr>
        </p:nvSpPr>
        <p:spPr>
          <a:xfrm>
            <a:off x="12232231" y="6024722"/>
            <a:ext cx="11497993" cy="8088517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4" name="Чёрно-белое фото Зеландского моста в Нидерландах"/>
          <p:cNvSpPr/>
          <p:nvPr>
            <p:ph type="pic" sz="half" idx="22"/>
          </p:nvPr>
        </p:nvSpPr>
        <p:spPr>
          <a:xfrm>
            <a:off x="12349986" y="635000"/>
            <a:ext cx="11226801" cy="6807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5" name="Чёрно-белое фото с видом снизу на мост над рекой на фоне неба "/>
          <p:cNvSpPr/>
          <p:nvPr>
            <p:ph type="pic" idx="23"/>
          </p:nvPr>
        </p:nvSpPr>
        <p:spPr>
          <a:xfrm>
            <a:off x="730989" y="-2438400"/>
            <a:ext cx="11050413" cy="161925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— Иван Арсентьев"/>
          <p:cNvSpPr txBox="1"/>
          <p:nvPr>
            <p:ph type="body" sz="quarter" idx="21"/>
          </p:nvPr>
        </p:nvSpPr>
        <p:spPr>
          <a:xfrm>
            <a:off x="990600" y="8420100"/>
            <a:ext cx="22390100" cy="812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700"/>
              </a:spcBef>
              <a:buClrTx/>
              <a:buSzTx/>
              <a:buFontTx/>
              <a:buNone/>
              <a:defRPr i="1" sz="4200"/>
            </a:lvl1pPr>
          </a:lstStyle>
          <a:p>
            <a:pPr/>
            <a:r>
              <a:t>— Иван Арсентьев</a:t>
            </a:r>
          </a:p>
        </p:txBody>
      </p:sp>
      <p:sp>
        <p:nvSpPr>
          <p:cNvPr id="134" name="«Место ввода цитаты»."/>
          <p:cNvSpPr txBox="1"/>
          <p:nvPr>
            <p:ph type="body" sz="quarter" idx="22"/>
          </p:nvPr>
        </p:nvSpPr>
        <p:spPr>
          <a:xfrm>
            <a:off x="2374900" y="6000750"/>
            <a:ext cx="19621500" cy="939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pPr/>
            <a:r>
              <a:t>«Место ввода цитаты».</a:t>
            </a:r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Чёрно-белое фото с видом снизу вверх на подвесные тросы моста на фоне облаков"/>
          <p:cNvSpPr/>
          <p:nvPr>
            <p:ph type="pic" idx="21"/>
          </p:nvPr>
        </p:nvSpPr>
        <p:spPr>
          <a:xfrm>
            <a:off x="0" y="-2654300"/>
            <a:ext cx="24384000" cy="17153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952500" y="30607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952500" y="1143000"/>
            <a:ext cx="22479000" cy="166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976100" y="13017500"/>
            <a:ext cx="419100" cy="508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4C4946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800" u="none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1219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828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2438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30480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3657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4267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4876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5486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b="0" baseline="0" cap="none" i="0" spc="0" strike="noStrike" sz="5000" u="none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Потоки ввода-вывода (I/O) в Java"/>
          <p:cNvSpPr txBox="1"/>
          <p:nvPr>
            <p:ph type="ctrTitle"/>
          </p:nvPr>
        </p:nvSpPr>
        <p:spPr>
          <a:xfrm>
            <a:off x="1500113" y="5824661"/>
            <a:ext cx="13500101" cy="3340101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Потоки ввода-вывода (I/O) в Java</a:t>
            </a:r>
          </a:p>
        </p:txBody>
      </p:sp>
      <p:sp>
        <p:nvSpPr>
          <p:cNvPr id="160" name="Гр. 5030102/40003…"/>
          <p:cNvSpPr txBox="1"/>
          <p:nvPr>
            <p:ph type="subTitle" sz="quarter" idx="1"/>
          </p:nvPr>
        </p:nvSpPr>
        <p:spPr>
          <a:xfrm>
            <a:off x="15687129" y="5848350"/>
            <a:ext cx="7950201" cy="3340100"/>
          </a:xfrm>
          <a:prstGeom prst="rect">
            <a:avLst/>
          </a:prstGeom>
        </p:spPr>
        <p:txBody>
          <a:bodyPr/>
          <a:lstStyle/>
          <a:p>
            <a:pPr/>
            <a:r>
              <a:t>Гр. 5030102/40003</a:t>
            </a:r>
          </a:p>
          <a:p>
            <a:pPr/>
            <a:r>
              <a:t>Алексеев Тимофей</a:t>
            </a:r>
          </a:p>
          <a:p>
            <a:pPr/>
            <a:r>
              <a:t>Иволин Богдан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Что такое I/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Что такое I/O</a:t>
            </a:r>
          </a:p>
        </p:txBody>
      </p:sp>
      <p:sp>
        <p:nvSpPr>
          <p:cNvPr id="163" name="I/O — Input / Outpu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I/O — Input / Output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Input — ввод данных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Output — вывод данных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передача данных между программой и источником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Понятие потока (Stream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Понятие потока (Stream)</a:t>
            </a:r>
          </a:p>
        </p:txBody>
      </p:sp>
      <p:sp>
        <p:nvSpPr>
          <p:cNvPr id="166" name="Поток — последовательность данных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Поток — последовательность данных</a:t>
            </a:r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Особенности: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данные передаются последовательно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поток может читать или записывать данные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используется для передачи информации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Архитектура потоков Jav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Архитектура потоков Java</a:t>
            </a:r>
          </a:p>
        </p:txBody>
      </p:sp>
      <p:sp>
        <p:nvSpPr>
          <p:cNvPr id="169" name="Основные классы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Основные классы: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InputStream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OutputStream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Reader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Writer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Иерархия классов I/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Иерархия классов I/O</a:t>
            </a:r>
          </a:p>
        </p:txBody>
      </p:sp>
      <p:sp>
        <p:nvSpPr>
          <p:cNvPr id="172" name="InputStream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InputStream</a:t>
            </a:r>
          </a:p>
          <a:p>
            <a:pPr lvl="2"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|</a:t>
            </a:r>
          </a:p>
          <a:p>
            <a:pPr lvl="1"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|-- FileInputStream</a:t>
            </a:r>
          </a:p>
          <a:p>
            <a:pPr lvl="4"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|-- BufferedInputStream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|-- DataInputStream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Reader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|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|-- FileReader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|-- BufferedReader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Байтовые пото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Байтовые потоки</a:t>
            </a:r>
          </a:p>
        </p:txBody>
      </p:sp>
      <p:sp>
        <p:nvSpPr>
          <p:cNvPr id="175" name="Байтовые потоки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Байтовые потоки: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работают с бинарными данными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читают данные по байтам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используются для изображений и видео</a:t>
            </a:r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Основные классы: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FileInputStream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  <a:r>
              <a:t>FileOutputStream</a:t>
            </a:r>
          </a:p>
          <a:p>
            <a:pPr marL="457200" indent="-317500" defTabSz="457200">
              <a:spcBef>
                <a:spcPts val="1200"/>
              </a:spcBef>
              <a:buClrTx/>
              <a:buSzPct val="75000"/>
              <a:buFont typeface="Times Roman"/>
              <a:buChar char="•"/>
              <a:defRPr sz="4000">
                <a:solidFill>
                  <a:srgbClr val="000000"/>
                </a:solidFill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Код — чтение файла -&gt;</a:t>
            </a:r>
          </a:p>
        </p:txBody>
      </p:sp>
      <p:pic>
        <p:nvPicPr>
          <p:cNvPr id="176" name="Снимок экрана 2026-03-12 в 12.51.23 AM.png" descr="Снимок экрана 2026-03-12 в 12.51.23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95896" y="3732242"/>
            <a:ext cx="12579464" cy="88843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Запись в фай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Запись в файл</a:t>
            </a:r>
          </a:p>
        </p:txBody>
      </p:sp>
      <p:sp>
        <p:nvSpPr>
          <p:cNvPr id="179" name="Используется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Используется:</a:t>
            </a:r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FileOutputStream</a:t>
            </a:r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Позволяет записывать данные в файл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Код — запись в файл -&gt;</a:t>
            </a:r>
          </a:p>
        </p:txBody>
      </p:sp>
      <p:pic>
        <p:nvPicPr>
          <p:cNvPr id="180" name="Снимок экрана 2026-03-12 в 12.56.18 AM.png" descr="Снимок экрана 2026-03-12 в 12.56.18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82164" y="3682982"/>
            <a:ext cx="13925036" cy="81539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Символьные пото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Символьные потоки</a:t>
            </a:r>
          </a:p>
        </p:txBody>
      </p:sp>
      <p:sp>
        <p:nvSpPr>
          <p:cNvPr id="183" name="Используются для работы с текстом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310895">
              <a:spcBef>
                <a:spcPts val="80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</a:defRPr>
            </a:pPr>
            <a:r>
              <a:t>Используются для работы с текстом</a:t>
            </a:r>
          </a:p>
          <a:p>
            <a:pPr marL="0" indent="0" defTabSz="310895">
              <a:spcBef>
                <a:spcPts val="80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</a:defRPr>
            </a:pPr>
            <a:r>
              <a:t>Основные классы: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FileReader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FileWriter</a:t>
            </a:r>
          </a:p>
          <a:p>
            <a:pPr marL="0" indent="0" defTabSz="310895">
              <a:spcBef>
                <a:spcPts val="80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</a:defRPr>
            </a:pPr>
            <a:r>
              <a:t>Преимущества: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работают с символами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учитывают кодировку</a:t>
            </a:r>
          </a:p>
          <a:p>
            <a:pPr marL="0" indent="0" defTabSz="310895">
              <a:spcBef>
                <a:spcPts val="80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Код — чтение файла посимвольно -&gt;</a:t>
            </a:r>
          </a:p>
        </p:txBody>
      </p:sp>
      <p:pic>
        <p:nvPicPr>
          <p:cNvPr id="184" name="Снимок экрана 2026-03-12 в 1.02.57 AM.png" descr="Снимок экрана 2026-03-12 в 1.02.5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95417" y="3289300"/>
            <a:ext cx="13171707" cy="96961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Буферизированные пото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Буферизированные потоки</a:t>
            </a:r>
          </a:p>
        </p:txBody>
      </p:sp>
      <p:sp>
        <p:nvSpPr>
          <p:cNvPr id="187" name="Buffered потоки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297179">
              <a:spcBef>
                <a:spcPts val="70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</a:defRPr>
            </a:pPr>
            <a:r>
              <a:t>Buffered потоки:</a:t>
            </a:r>
          </a:p>
          <a:p>
            <a:pPr marL="297179" indent="-206375" defTabSz="297179">
              <a:spcBef>
                <a:spcPts val="700"/>
              </a:spcBef>
              <a:buClrTx/>
              <a:buSzPct val="75000"/>
              <a:buFont typeface="Times Roman"/>
              <a:buChar char="•"/>
              <a:defRPr sz="2600">
                <a:solidFill>
                  <a:srgbClr val="000000"/>
                </a:solidFill>
              </a:defRPr>
            </a:pPr>
            <a:r>
              <a:t>BufferedReader</a:t>
            </a:r>
          </a:p>
          <a:p>
            <a:pPr marL="297179" indent="-206375" defTabSz="297179">
              <a:spcBef>
                <a:spcPts val="700"/>
              </a:spcBef>
              <a:buClrTx/>
              <a:buSzPct val="75000"/>
              <a:buFont typeface="Times Roman"/>
              <a:buChar char="•"/>
              <a:defRPr sz="2600">
                <a:solidFill>
                  <a:srgbClr val="000000"/>
                </a:solidFill>
              </a:defRPr>
            </a:pPr>
            <a:r>
              <a:t>BufferedWriter</a:t>
            </a:r>
          </a:p>
          <a:p>
            <a:pPr marL="297179" indent="-206375" defTabSz="297179">
              <a:spcBef>
                <a:spcPts val="700"/>
              </a:spcBef>
              <a:buClrTx/>
              <a:buSzPct val="75000"/>
              <a:buFont typeface="Times Roman"/>
              <a:buChar char="•"/>
              <a:defRPr sz="2600">
                <a:solidFill>
                  <a:srgbClr val="000000"/>
                </a:solidFill>
              </a:defRPr>
            </a:pPr>
            <a:r>
              <a:t>BufferedInputStream</a:t>
            </a:r>
          </a:p>
          <a:p>
            <a:pPr marL="0" indent="0" defTabSz="297179">
              <a:spcBef>
                <a:spcPts val="70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</a:defRPr>
            </a:pPr>
            <a:r>
              <a:t>Преимущества:</a:t>
            </a:r>
          </a:p>
          <a:p>
            <a:pPr marL="297179" indent="-206375" defTabSz="297179">
              <a:spcBef>
                <a:spcPts val="700"/>
              </a:spcBef>
              <a:buClrTx/>
              <a:buSzPct val="75000"/>
              <a:buFont typeface="Times Roman"/>
              <a:buChar char="•"/>
              <a:defRPr sz="2600">
                <a:solidFill>
                  <a:srgbClr val="000000"/>
                </a:solidFill>
              </a:defRPr>
            </a:pPr>
            <a:r>
              <a:t>быстрее</a:t>
            </a:r>
          </a:p>
          <a:p>
            <a:pPr marL="297179" indent="-206375" defTabSz="297179">
              <a:spcBef>
                <a:spcPts val="700"/>
              </a:spcBef>
              <a:buClrTx/>
              <a:buSzPct val="75000"/>
              <a:buFont typeface="Times Roman"/>
              <a:buChar char="•"/>
              <a:defRPr sz="2600">
                <a:solidFill>
                  <a:srgbClr val="000000"/>
                </a:solidFill>
              </a:defRPr>
            </a:pPr>
            <a:r>
              <a:t>используют буфер(</a:t>
            </a:r>
            <a:r>
              <a:rPr b="1"/>
              <a:t>временную область памяти</a:t>
            </a:r>
            <a:r>
              <a:t>, </a:t>
            </a:r>
          </a:p>
          <a:p>
            <a:pPr marL="297179" indent="-206375" defTabSz="297179">
              <a:spcBef>
                <a:spcPts val="700"/>
              </a:spcBef>
              <a:buClrTx/>
              <a:buSzPct val="75000"/>
              <a:buFont typeface="Times Roman"/>
              <a:buChar char="•"/>
              <a:defRPr sz="2600">
                <a:solidFill>
                  <a:srgbClr val="000000"/>
                </a:solidFill>
              </a:defRPr>
            </a:pPr>
            <a:r>
              <a:t>где данные хранятся перед чтением или записью)</a:t>
            </a:r>
          </a:p>
          <a:p>
            <a:pPr marL="0" indent="0" defTabSz="297179">
              <a:spcBef>
                <a:spcPts val="70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297179">
              <a:spcBef>
                <a:spcPts val="0"/>
              </a:spcBef>
              <a:buClrTx/>
              <a:buSzTx/>
              <a:buFontTx/>
              <a:buNone/>
              <a:defRPr sz="26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Код — чтение файла построчно -&gt;</a:t>
            </a:r>
          </a:p>
        </p:txBody>
      </p:sp>
      <p:pic>
        <p:nvPicPr>
          <p:cNvPr id="188" name="Снимок экрана 2026-03-12 в 1.08.07 AM.png" descr="Снимок экрана 2026-03-12 в 1.08.0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63922" y="3289300"/>
            <a:ext cx="14765374" cy="90954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ry-with-resourc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Try-with-resources</a:t>
            </a:r>
          </a:p>
        </p:txBody>
      </p:sp>
      <p:sp>
        <p:nvSpPr>
          <p:cNvPr id="191" name="Автоматическое закрытие потоков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402336">
              <a:spcBef>
                <a:spcPts val="100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</a:defRPr>
            </a:pPr>
            <a:r>
              <a:t>Автоматическое закрытие потоков</a:t>
            </a:r>
          </a:p>
          <a:p>
            <a:pPr marL="0" indent="0" defTabSz="402336">
              <a:spcBef>
                <a:spcPts val="100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</a:defRPr>
            </a:pPr>
            <a:r>
              <a:t>Преимущества:</a:t>
            </a:r>
          </a:p>
          <a:p>
            <a:pPr marL="402336" indent="-279400" defTabSz="402336">
              <a:spcBef>
                <a:spcPts val="1000"/>
              </a:spcBef>
              <a:buClrTx/>
              <a:buSzPct val="75000"/>
              <a:buFont typeface="Times Roman"/>
              <a:buChar char="•"/>
              <a:defRPr sz="3520">
                <a:solidFill>
                  <a:srgbClr val="000000"/>
                </a:solidFill>
              </a:defRPr>
            </a:pPr>
            <a:r>
              <a:t>меньше ошибок</a:t>
            </a:r>
          </a:p>
          <a:p>
            <a:pPr marL="402336" indent="-279400" defTabSz="402336">
              <a:spcBef>
                <a:spcPts val="1000"/>
              </a:spcBef>
              <a:buClrTx/>
              <a:buSzPct val="75000"/>
              <a:buFont typeface="Times Roman"/>
              <a:buChar char="•"/>
              <a:defRPr sz="3520">
                <a:solidFill>
                  <a:srgbClr val="000000"/>
                </a:solidFill>
              </a:defRPr>
            </a:pPr>
            <a:r>
              <a:t>безопаснее</a:t>
            </a:r>
          </a:p>
          <a:p>
            <a:pPr marL="0" indent="0" defTabSz="402336">
              <a:spcBef>
                <a:spcPts val="100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02336">
              <a:spcBef>
                <a:spcPts val="0"/>
              </a:spcBef>
              <a:buClrTx/>
              <a:buSzTx/>
              <a:buFontTx/>
              <a:buNone/>
              <a:defRPr sz="35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Код — чтение файла построчно с автоматическим закрытием файла -&gt;</a:t>
            </a:r>
          </a:p>
        </p:txBody>
      </p:sp>
      <p:pic>
        <p:nvPicPr>
          <p:cNvPr id="192" name="Снимок экрана 2026-03-12 в 1.11.07 AM.png" descr="Снимок экрана 2026-03-12 в 1.11.0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93944" y="3721134"/>
            <a:ext cx="15329171" cy="74160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Исключе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Исключения</a:t>
            </a:r>
          </a:p>
        </p:txBody>
      </p:sp>
      <p:sp>
        <p:nvSpPr>
          <p:cNvPr id="195" name="Основные ошибки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 defTabSz="310895">
              <a:spcBef>
                <a:spcPts val="80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</a:defRPr>
            </a:pPr>
            <a:r>
              <a:t>Основные ошибки: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IOException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FileNotFoundException</a:t>
            </a:r>
          </a:p>
          <a:p>
            <a:pPr marL="0" indent="0" defTabSz="310895">
              <a:spcBef>
                <a:spcPts val="80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</a:defRPr>
            </a:pPr>
            <a:r>
              <a:t>Причины: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файл не существует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ошибка доступа</a:t>
            </a:r>
          </a:p>
          <a:p>
            <a:pPr marL="310895" indent="-215900" defTabSz="310895">
              <a:spcBef>
                <a:spcPts val="800"/>
              </a:spcBef>
              <a:buClrTx/>
              <a:buSzPct val="75000"/>
              <a:buFont typeface="Times Roman"/>
              <a:buChar char="•"/>
              <a:defRPr sz="2720">
                <a:solidFill>
                  <a:srgbClr val="000000"/>
                </a:solidFill>
              </a:defRPr>
            </a:pPr>
            <a:r>
              <a:t>ошибка чтения</a:t>
            </a:r>
          </a:p>
          <a:p>
            <a:pPr marL="0" indent="0" defTabSz="310895">
              <a:spcBef>
                <a:spcPts val="80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0895">
              <a:spcBef>
                <a:spcPts val="0"/>
              </a:spcBef>
              <a:buClrTx/>
              <a:buSzTx/>
              <a:buFontTx/>
              <a:buNone/>
              <a:defRPr sz="272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Сравнение поток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Сравнение потоков</a:t>
            </a:r>
          </a:p>
        </p:txBody>
      </p:sp>
      <p:sp>
        <p:nvSpPr>
          <p:cNvPr id="198" name="Тип                            Использование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lvl="2" marL="0" indent="0" defTabSz="457200">
              <a:spcBef>
                <a:spcPts val="0"/>
              </a:spcBef>
              <a:buClrTx/>
              <a:buSzTx/>
              <a:buFontTx/>
              <a:buNone/>
              <a:defRPr b="1" sz="4000">
                <a:solidFill>
                  <a:srgbClr val="000000"/>
                </a:solidFill>
              </a:defRPr>
            </a:pPr>
            <a:r>
              <a:t>Тип                            Использование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InputStream              чтение байтов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OutputStream           запись байтов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Reader                        чтение текста</a:t>
            </a:r>
          </a:p>
          <a:p>
            <a:pPr marL="0" indent="0" defTabSz="457200">
              <a:spcBef>
                <a:spcPts val="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Writer                         запись текста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Заключ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Заключение</a:t>
            </a:r>
          </a:p>
        </p:txBody>
      </p:sp>
      <p:sp>
        <p:nvSpPr>
          <p:cNvPr id="201" name="Потоки — основа работы с данными…"/>
          <p:cNvSpPr txBox="1"/>
          <p:nvPr>
            <p:ph type="body" idx="1"/>
          </p:nvPr>
        </p:nvSpPr>
        <p:spPr>
          <a:xfrm>
            <a:off x="952500" y="3702050"/>
            <a:ext cx="22479000" cy="8572500"/>
          </a:xfrm>
          <a:prstGeom prst="rect">
            <a:avLst/>
          </a:prstGeom>
        </p:spPr>
        <p:txBody>
          <a:bodyPr anchor="t"/>
          <a:lstStyle/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Потоки — основа работы с данными</a:t>
            </a:r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Java предоставляет мощную I/O систему</a:t>
            </a:r>
          </a:p>
          <a:p>
            <a:pPr marL="0" indent="0" defTabSz="457200">
              <a:spcBef>
                <a:spcPts val="1200"/>
              </a:spcBef>
              <a:buClrTx/>
              <a:buSzTx/>
              <a:buFontTx/>
              <a:buNone/>
              <a:defRPr sz="4000">
                <a:solidFill>
                  <a:srgbClr val="000000"/>
                </a:solidFill>
              </a:defRPr>
            </a:pPr>
            <a:r>
              <a:t>Используется во всех Java-приложениях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СПАСИБО ЗА ВНИМА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СПАСИБО ЗА ВНИМАНИЕ</a:t>
            </a:r>
          </a:p>
        </p:txBody>
      </p:sp>
      <p:sp>
        <p:nvSpPr>
          <p:cNvPr id="204" name="ЗАДАВАЙТЕ ВОПРОСЫ!"/>
          <p:cNvSpPr txBox="1"/>
          <p:nvPr>
            <p:ph type="body" idx="1"/>
          </p:nvPr>
        </p:nvSpPr>
        <p:spPr>
          <a:xfrm>
            <a:off x="6400696" y="5872469"/>
            <a:ext cx="22479001" cy="8572501"/>
          </a:xfrm>
          <a:prstGeom prst="rect">
            <a:avLst/>
          </a:prstGeom>
        </p:spPr>
        <p:txBody>
          <a:bodyPr anchor="t"/>
          <a:lstStyle>
            <a:lvl1pPr marL="0" indent="0" defTabSz="457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ЗАДАВАЙТЕ ВОПРОСЫ!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dissolve/>
      </p:transition>
    </mc:Choice>
    <mc:Fallback>
      <p:transition spd="slow">
        <p:fade/>
      </p:transition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4.png"/></Relationships>

</file>

<file path=ppt/theme/theme1.xml><?xml version="1.0" encoding="utf-8"?>
<a:theme xmlns:a="http://schemas.openxmlformats.org/drawingml/2006/main" xmlns:r="http://schemas.openxmlformats.org/officeDocument/2006/relationships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33948" dir="270000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33948" dir="270000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